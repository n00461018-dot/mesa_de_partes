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0" r:id="rId11"/>
    <p:sldId id="268" r:id="rId12"/>
    <p:sldId id="267" r:id="rId1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F9"/>
    <a:srgbClr val="7D1B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79D4E-9511-9603-C239-91D5B751F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CFCDC3-6BCD-B63D-650D-E6EF23A2C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CEE584-4FCA-2441-30F4-4D67FECB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FCBE-DAB6-459A-9705-6FBD327DB572}" type="datetimeFigureOut">
              <a:rPr lang="es-PE" smtClean="0"/>
              <a:t>20/10/2026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C3F4FE-6F41-2E2E-7FDB-0761ED0D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D4504C-7342-E917-4FE8-F5092C1EC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0F528-7729-4AD4-8B74-14FA707DA8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8397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DA4BE-3DE2-D78F-0383-61196607D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3BF587-A0BB-F7FC-B3B9-9293194CA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546BC8-7118-B689-AA52-11E9E05C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FCBE-DAB6-459A-9705-6FBD327DB572}" type="datetimeFigureOut">
              <a:rPr lang="es-PE" smtClean="0"/>
              <a:t>20/10/2026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F1F296-0E41-DB5D-1932-D0D2ED6F1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B3164A-4626-F5C2-9E46-9494C134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0F528-7729-4AD4-8B74-14FA707DA8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9528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1474B-F832-5DE4-E5CF-76DABAA5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758C1D-413A-83AA-DB93-4263B039F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45B94A-E6FE-B936-DBD0-08CAE92EA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FCBE-DAB6-459A-9705-6FBD327DB572}" type="datetimeFigureOut">
              <a:rPr lang="es-PE" smtClean="0"/>
              <a:t>20/10/2026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1743D2-E773-2184-B8D6-FE4D603B7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1091B4-7FF6-8D98-EAC6-8D08C7AC4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0F528-7729-4AD4-8B74-14FA707DA8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1933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26663-0F6A-6DE3-9AD4-C817040F6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DFC7C2-C39E-AF9A-E9AA-DCBDA7F66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3C7087-B1EA-AF21-FCC2-999A5E443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FC757E-9345-7BB3-AA6A-D7E0F83A5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FCBE-DAB6-459A-9705-6FBD327DB572}" type="datetimeFigureOut">
              <a:rPr lang="es-PE" smtClean="0"/>
              <a:t>20/10/2026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3AD0BC-792C-233D-3109-ACCD8DFD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5CEF80-519A-337D-AE16-BEF92C76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0F528-7729-4AD4-8B74-14FA707DA8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724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2D35D-C0A9-B8D6-549F-DDD9DD9F8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EC8035-4A4D-845B-6699-446420FFC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6FF237-F130-09EC-9138-3AE8031FE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A14604-B545-13E3-C635-E3B32C96B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6E48585-6823-4A9A-4673-CD8DACD7B2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D3BC18-CB67-075F-A987-9FDD41883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FCBE-DAB6-459A-9705-6FBD327DB572}" type="datetimeFigureOut">
              <a:rPr lang="es-PE" smtClean="0"/>
              <a:t>20/10/2026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D34BE00-47F9-8CB1-3FF2-964F9B774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CFD2771-7A6D-0500-4397-D80C9576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0F528-7729-4AD4-8B74-14FA707DA8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568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933B9-04A0-0B24-B8C6-898F467E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B6237D-EB6C-9E24-77B6-640475E1D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FCBE-DAB6-459A-9705-6FBD327DB572}" type="datetimeFigureOut">
              <a:rPr lang="es-PE" smtClean="0"/>
              <a:t>20/10/2026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50BC13-7600-0156-1F4D-EC268F86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B53642-FB53-14F3-4167-339D3F05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0F528-7729-4AD4-8B74-14FA707DA8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472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5935A97-721E-730C-09A0-3300C069A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FCBE-DAB6-459A-9705-6FBD327DB572}" type="datetimeFigureOut">
              <a:rPr lang="es-PE" smtClean="0"/>
              <a:t>20/10/2026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28E2744-1C12-6F15-7AAE-CFF4595D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41AB77-491C-EE73-8F4D-CF02EDB2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0F528-7729-4AD4-8B74-14FA707DA8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6578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5A492-0946-6018-4911-B386E7E15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6BCA1C-BD3A-F3BD-CE05-96B3C4DFE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4380B8-0382-94BE-D0D6-C81AB993C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B7E594-0A31-3517-8A25-1FA0DEE28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FCBE-DAB6-459A-9705-6FBD327DB572}" type="datetimeFigureOut">
              <a:rPr lang="es-PE" smtClean="0"/>
              <a:t>20/10/2026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9DBFCE-251A-ADA3-595A-03EE7B5B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F250E6-26F8-3EB9-D7A8-23F6B6FE0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0F528-7729-4AD4-8B74-14FA707DA8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8478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9ABE1-0D3B-6654-C0EC-E479B624D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D739F45-632A-A9ED-D08D-1B78C93869D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0B86B5-7DCB-4063-1CFB-A050399C4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45AEDA-21C0-EFEB-9E41-2195786E3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FCBE-DAB6-459A-9705-6FBD327DB572}" type="datetimeFigureOut">
              <a:rPr lang="es-PE" smtClean="0"/>
              <a:t>20/10/2026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45F11C-02CD-65E4-BF2D-9905B0A18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533AD4-2E96-6A5D-8A2A-14942C50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0F528-7729-4AD4-8B74-14FA707DA8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67647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2D8C9-FFBF-BCBF-3872-FC5030A2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A84578-CEEE-D5D3-1EE9-6FAC93E42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DD1C39-5F2E-6BC2-B3F8-744130104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FCBE-DAB6-459A-9705-6FBD327DB572}" type="datetimeFigureOut">
              <a:rPr lang="es-PE" smtClean="0"/>
              <a:t>20/10/2026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CE64F-9C3F-5028-5B58-E85C0FC9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BA6255-4541-51A8-11D5-BD141301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0F528-7729-4AD4-8B74-14FA707DA8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781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678A49-FD5D-D1A0-ADC3-FB612B5B7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4F1167-C586-3FA5-0117-E6442BA9C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EEA2C1-0551-CFC1-1701-C7F64527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0FCBE-DAB6-459A-9705-6FBD327DB572}" type="datetimeFigureOut">
              <a:rPr lang="es-PE" smtClean="0"/>
              <a:t>20/10/2026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6F9D5D-C883-CBB7-6A3E-9603A0DE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3D4124-83DF-A802-7C0E-9E5A9F29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0F528-7729-4AD4-8B74-14FA707DA8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55545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FB54BEB-054C-7944-0F83-379B30762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FCFB58-C3DE-E9D9-B7D1-776F28B0B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0B4EBE-F47D-8B10-EADB-6811763A1A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0FCBE-DAB6-459A-9705-6FBD327DB572}" type="datetimeFigureOut">
              <a:rPr lang="es-PE" smtClean="0"/>
              <a:t>20/10/2026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39B598-3175-9E0E-4B1F-18616388A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FCC8C0-997D-D359-12F0-65127EF30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0F528-7729-4AD4-8B74-14FA707DA8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05660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0E5AFD6A-4B1F-E2C0-1C75-AAB649EFFCAB}"/>
              </a:ext>
            </a:extLst>
          </p:cNvPr>
          <p:cNvSpPr/>
          <p:nvPr/>
        </p:nvSpPr>
        <p:spPr>
          <a:xfrm>
            <a:off x="384048" y="648110"/>
            <a:ext cx="5824728" cy="677108"/>
          </a:xfrm>
          <a:prstGeom prst="rect">
            <a:avLst/>
          </a:prstGeom>
          <a:solidFill>
            <a:srgbClr val="F4F7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5CABAC4-8976-A7A8-52F4-A0B3E567BE98}"/>
              </a:ext>
            </a:extLst>
          </p:cNvPr>
          <p:cNvSpPr/>
          <p:nvPr/>
        </p:nvSpPr>
        <p:spPr>
          <a:xfrm>
            <a:off x="7283115" y="5297113"/>
            <a:ext cx="3214197" cy="338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7FDF71E-AB4C-C62E-94D2-D5A2FDDE940A}"/>
              </a:ext>
            </a:extLst>
          </p:cNvPr>
          <p:cNvSpPr/>
          <p:nvPr/>
        </p:nvSpPr>
        <p:spPr>
          <a:xfrm>
            <a:off x="384048" y="4562857"/>
            <a:ext cx="4864608" cy="1781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56EF2D3-3083-07BF-29F8-D4AB3C40E3A5}"/>
              </a:ext>
            </a:extLst>
          </p:cNvPr>
          <p:cNvSpPr/>
          <p:nvPr/>
        </p:nvSpPr>
        <p:spPr>
          <a:xfrm>
            <a:off x="384048" y="3304757"/>
            <a:ext cx="7219910" cy="745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D48829C-EAB8-8976-09AE-9AD67CB17EAF}"/>
              </a:ext>
            </a:extLst>
          </p:cNvPr>
          <p:cNvSpPr/>
          <p:nvPr/>
        </p:nvSpPr>
        <p:spPr>
          <a:xfrm>
            <a:off x="384048" y="1430620"/>
            <a:ext cx="7219910" cy="1696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0A27DF-F31F-428B-C4C0-CCCE5DA4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2" y="1222333"/>
            <a:ext cx="6878053" cy="1977022"/>
          </a:xfrm>
        </p:spPr>
        <p:txBody>
          <a:bodyPr>
            <a:normAutofit/>
          </a:bodyPr>
          <a:lstStyle/>
          <a:p>
            <a:r>
              <a:rPr lang="es-ES" sz="4800" dirty="0"/>
              <a:t>Sistema de Mesa de Partes </a:t>
            </a:r>
            <a:br>
              <a:rPr lang="es-ES" sz="4800" dirty="0"/>
            </a:br>
            <a:r>
              <a:rPr lang="es-ES" sz="4800" dirty="0"/>
              <a:t>                   virtuales</a:t>
            </a:r>
            <a:endParaRPr lang="es-PE" sz="4800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4CD9327-8B14-4415-7EF2-9B2AD3B34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9" y="3376864"/>
            <a:ext cx="7360919" cy="673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sz="2400" dirty="0"/>
              <a:t>Municipalidad Distrital de San Juan de Lurigancho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BDF47C6-DEB2-182F-088F-14B95A25D410}"/>
              </a:ext>
            </a:extLst>
          </p:cNvPr>
          <p:cNvSpPr/>
          <p:nvPr/>
        </p:nvSpPr>
        <p:spPr>
          <a:xfrm>
            <a:off x="8070782" y="1804738"/>
            <a:ext cx="3625515" cy="2245895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1F84B14-2920-8016-B17F-9D31CB4ABE5F}"/>
              </a:ext>
            </a:extLst>
          </p:cNvPr>
          <p:cNvSpPr txBox="1"/>
          <p:nvPr/>
        </p:nvSpPr>
        <p:spPr>
          <a:xfrm>
            <a:off x="527383" y="853001"/>
            <a:ext cx="6242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CURSO: FUNDAMENTOS DE PROGRAMACIÓN</a:t>
            </a:r>
            <a:endParaRPr lang="es-PE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AB4AF92-D947-1F66-479C-1730A9325BA4}"/>
              </a:ext>
            </a:extLst>
          </p:cNvPr>
          <p:cNvSpPr txBox="1"/>
          <p:nvPr/>
        </p:nvSpPr>
        <p:spPr>
          <a:xfrm>
            <a:off x="565488" y="4228142"/>
            <a:ext cx="52136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INTEGRANTES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dirty="0"/>
              <a:t>Graciela Lizet Ruiz Ramos.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dirty="0"/>
              <a:t>Aaron Keneth Gonzales Cortez.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dirty="0"/>
              <a:t>Alejandro Miguel Huilcaya Dominguez.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dirty="0"/>
              <a:t>Joan Narciso Villar.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000" dirty="0"/>
              <a:t>Manuel Anthony Ruiz Perez.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8F4327F-9BD0-ED0A-AA28-6B5729F84E1D}"/>
              </a:ext>
            </a:extLst>
          </p:cNvPr>
          <p:cNvSpPr txBox="1"/>
          <p:nvPr/>
        </p:nvSpPr>
        <p:spPr>
          <a:xfrm>
            <a:off x="7283115" y="4958559"/>
            <a:ext cx="382604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DOCENTE</a:t>
            </a:r>
          </a:p>
          <a:p>
            <a:r>
              <a:rPr lang="es-ES" sz="2000" dirty="0"/>
              <a:t>Percy Angel Pardo Zapata</a:t>
            </a: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655333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AD008-1567-E98B-2A46-A41538017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953"/>
            <a:ext cx="7680158" cy="1325563"/>
          </a:xfrm>
        </p:spPr>
        <p:txBody>
          <a:bodyPr>
            <a:normAutofit/>
          </a:bodyPr>
          <a:lstStyle/>
          <a:p>
            <a:r>
              <a:rPr lang="es-ES" sz="4000" dirty="0"/>
              <a:t>Problemática actual en SJL</a:t>
            </a:r>
            <a:endParaRPr lang="es-PE" sz="4000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D46309C-4205-48D7-2B25-1E2683AC08B5}"/>
              </a:ext>
            </a:extLst>
          </p:cNvPr>
          <p:cNvSpPr/>
          <p:nvPr/>
        </p:nvSpPr>
        <p:spPr>
          <a:xfrm>
            <a:off x="978567" y="2638927"/>
            <a:ext cx="5309937" cy="2518610"/>
          </a:xfrm>
          <a:prstGeom prst="roundRect">
            <a:avLst/>
          </a:prstGeom>
          <a:solidFill>
            <a:srgbClr val="F4F7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12E5D86-F814-A059-D0EE-3CD551A3EDED}"/>
              </a:ext>
            </a:extLst>
          </p:cNvPr>
          <p:cNvSpPr/>
          <p:nvPr/>
        </p:nvSpPr>
        <p:spPr>
          <a:xfrm>
            <a:off x="6761747" y="2679032"/>
            <a:ext cx="5117432" cy="2518610"/>
          </a:xfrm>
          <a:prstGeom prst="roundRect">
            <a:avLst/>
          </a:prstGeom>
          <a:solidFill>
            <a:srgbClr val="F4F7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3AF9EE8-762F-A12C-15FC-3EC18E43348B}"/>
              </a:ext>
            </a:extLst>
          </p:cNvPr>
          <p:cNvSpPr txBox="1"/>
          <p:nvPr/>
        </p:nvSpPr>
        <p:spPr>
          <a:xfrm>
            <a:off x="1584156" y="3059668"/>
            <a:ext cx="4098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Gestión Documental Lenta</a:t>
            </a:r>
            <a:endParaRPr lang="es-PE" sz="20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9616E69-DD75-66AC-99DF-57F3405C8D86}"/>
              </a:ext>
            </a:extLst>
          </p:cNvPr>
          <p:cNvSpPr txBox="1"/>
          <p:nvPr/>
        </p:nvSpPr>
        <p:spPr>
          <a:xfrm>
            <a:off x="1584156" y="3550162"/>
            <a:ext cx="4098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Demora excesiva en la recepción, clasificación manual y derivación física de expedientes administrativos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7E4FAA8-1157-1154-8B49-53EAA39F8745}"/>
              </a:ext>
            </a:extLst>
          </p:cNvPr>
          <p:cNvSpPr txBox="1"/>
          <p:nvPr/>
        </p:nvSpPr>
        <p:spPr>
          <a:xfrm>
            <a:off x="7114675" y="3180830"/>
            <a:ext cx="4098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b="1" dirty="0"/>
              <a:t>Impacto al Ciudadano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27F5F05-AA89-D85F-77BE-B6DFA62121D7}"/>
              </a:ext>
            </a:extLst>
          </p:cNvPr>
          <p:cNvSpPr txBox="1"/>
          <p:nvPr/>
        </p:nvSpPr>
        <p:spPr>
          <a:xfrm>
            <a:off x="7114675" y="3615634"/>
            <a:ext cx="4098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Altos costos de traslado personal y pérdida continua de tiempo para los vecinos de San Juan de Lurigancho.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16412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18D66B0-AFBA-C75C-33AE-FCADD2E5B671}"/>
              </a:ext>
            </a:extLst>
          </p:cNvPr>
          <p:cNvSpPr/>
          <p:nvPr/>
        </p:nvSpPr>
        <p:spPr>
          <a:xfrm>
            <a:off x="513347" y="1540042"/>
            <a:ext cx="11518232" cy="150795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BAF901-1DE5-7121-92CF-ECFE6F4D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Solución Propuesta y Objetivos</a:t>
            </a:r>
            <a:br>
              <a:rPr lang="es-PE" b="1" dirty="0"/>
            </a:br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FD7991-45A6-B92E-2369-517B64408F28}"/>
              </a:ext>
            </a:extLst>
          </p:cNvPr>
          <p:cNvSpPr txBox="1"/>
          <p:nvPr/>
        </p:nvSpPr>
        <p:spPr>
          <a:xfrm>
            <a:off x="665748" y="1648829"/>
            <a:ext cx="321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bg1"/>
                </a:solidFill>
              </a:rPr>
              <a:t>Objetivo General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55AF715-C5FF-B7F8-8A17-6B7E2C485281}"/>
              </a:ext>
            </a:extLst>
          </p:cNvPr>
          <p:cNvSpPr txBox="1"/>
          <p:nvPr/>
        </p:nvSpPr>
        <p:spPr>
          <a:xfrm>
            <a:off x="914401" y="2094304"/>
            <a:ext cx="9529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solidFill>
                  <a:schemeClr val="bg1"/>
                </a:solidFill>
              </a:rPr>
              <a:t>Digitalizar y agilizar el ingreso de documentos administrativos mediante una plataforma accesible, eficiente y segura.</a:t>
            </a:r>
            <a:endParaRPr lang="es-PE" b="1" dirty="0">
              <a:solidFill>
                <a:schemeClr val="bg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F9A7826-1F8F-A437-E84F-5876AA0D8EA8}"/>
              </a:ext>
            </a:extLst>
          </p:cNvPr>
          <p:cNvSpPr/>
          <p:nvPr/>
        </p:nvSpPr>
        <p:spPr>
          <a:xfrm>
            <a:off x="1058778" y="4058653"/>
            <a:ext cx="4162927" cy="1150517"/>
          </a:xfrm>
          <a:prstGeom prst="roundRect">
            <a:avLst/>
          </a:prstGeom>
          <a:solidFill>
            <a:srgbClr val="F4F7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dirty="0">
                <a:solidFill>
                  <a:schemeClr val="tx1"/>
                </a:solidFill>
              </a:rPr>
              <a:t>Reducción del tiempo de tramitación ciudadana.</a:t>
            </a:r>
            <a:endParaRPr lang="es-PE" b="1" dirty="0">
              <a:solidFill>
                <a:schemeClr val="tx1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596AAF6-2A3E-7706-8ED6-734D19BED004}"/>
              </a:ext>
            </a:extLst>
          </p:cNvPr>
          <p:cNvSpPr/>
          <p:nvPr/>
        </p:nvSpPr>
        <p:spPr>
          <a:xfrm>
            <a:off x="6970295" y="4058653"/>
            <a:ext cx="4162927" cy="1130115"/>
          </a:xfrm>
          <a:prstGeom prst="roundRect">
            <a:avLst/>
          </a:prstGeom>
          <a:solidFill>
            <a:srgbClr val="F4F7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>
              <a:solidFill>
                <a:schemeClr val="tx1"/>
              </a:solidFill>
            </a:endParaRPr>
          </a:p>
          <a:p>
            <a:pPr algn="ctr"/>
            <a:r>
              <a:rPr lang="es-PE" dirty="0">
                <a:solidFill>
                  <a:schemeClr val="tx1"/>
                </a:solidFill>
              </a:rPr>
              <a:t>Validación y custodia digital de datos y documentos</a:t>
            </a:r>
            <a:r>
              <a:rPr lang="es-PE" dirty="0"/>
              <a:t>.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B9EA083-933B-8531-91E1-766D823EECC7}"/>
              </a:ext>
            </a:extLst>
          </p:cNvPr>
          <p:cNvSpPr txBox="1"/>
          <p:nvPr/>
        </p:nvSpPr>
        <p:spPr>
          <a:xfrm>
            <a:off x="1271337" y="4038251"/>
            <a:ext cx="321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Agilidad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C6FC224-45DF-266C-47B6-70857160422C}"/>
              </a:ext>
            </a:extLst>
          </p:cNvPr>
          <p:cNvSpPr txBox="1"/>
          <p:nvPr/>
        </p:nvSpPr>
        <p:spPr>
          <a:xfrm>
            <a:off x="7110663" y="4038251"/>
            <a:ext cx="3216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Seguridad</a:t>
            </a:r>
          </a:p>
          <a:p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3325665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1C3AC-A078-E97C-52AE-D97C651D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144"/>
            <a:ext cx="10515600" cy="982412"/>
          </a:xfrm>
        </p:spPr>
        <p:txBody>
          <a:bodyPr>
            <a:normAutofit fontScale="90000"/>
          </a:bodyPr>
          <a:lstStyle/>
          <a:p>
            <a:r>
              <a:rPr lang="es-PE" dirty="0"/>
              <a:t>Flujo del Proceso de Negocio </a:t>
            </a:r>
            <a:br>
              <a:rPr lang="es-PE" b="1" dirty="0"/>
            </a:br>
            <a:endParaRPr lang="es-PE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588679C-7E97-AF71-B2E6-2AFC4CD06FDA}"/>
              </a:ext>
            </a:extLst>
          </p:cNvPr>
          <p:cNvSpPr/>
          <p:nvPr/>
        </p:nvSpPr>
        <p:spPr>
          <a:xfrm>
            <a:off x="8513064" y="1386432"/>
            <a:ext cx="3678936" cy="98241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4274B14-EDBD-1199-91EE-7E6D98930DBA}"/>
              </a:ext>
            </a:extLst>
          </p:cNvPr>
          <p:cNvSpPr/>
          <p:nvPr/>
        </p:nvSpPr>
        <p:spPr>
          <a:xfrm>
            <a:off x="8439912" y="2563649"/>
            <a:ext cx="3752088" cy="974558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C398058-69E9-0977-F2AB-986203AE55AA}"/>
              </a:ext>
            </a:extLst>
          </p:cNvPr>
          <p:cNvSpPr/>
          <p:nvPr/>
        </p:nvSpPr>
        <p:spPr>
          <a:xfrm>
            <a:off x="8414726" y="3635166"/>
            <a:ext cx="3752088" cy="83419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CC20A1B-3412-5AE6-CB72-47BB4B7229A1}"/>
              </a:ext>
            </a:extLst>
          </p:cNvPr>
          <p:cNvSpPr txBox="1"/>
          <p:nvPr/>
        </p:nvSpPr>
        <p:spPr>
          <a:xfrm>
            <a:off x="8741664" y="1388789"/>
            <a:ext cx="322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1. Fase Actual Implementada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0BE0ED-FFF1-3021-E323-6ABD082ACBBB}"/>
              </a:ext>
            </a:extLst>
          </p:cNvPr>
          <p:cNvSpPr txBox="1"/>
          <p:nvPr/>
        </p:nvSpPr>
        <p:spPr>
          <a:xfrm>
            <a:off x="8592313" y="1683941"/>
            <a:ext cx="3678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Autenticación y validación segura del ciudadano o trabajador</a:t>
            </a:r>
            <a:endParaRPr lang="es-PE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A8F5174-8556-2ECC-9F0B-58543BCDD3CF}"/>
              </a:ext>
            </a:extLst>
          </p:cNvPr>
          <p:cNvSpPr txBox="1"/>
          <p:nvPr/>
        </p:nvSpPr>
        <p:spPr>
          <a:xfrm>
            <a:off x="8439912" y="3875042"/>
            <a:ext cx="4235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Derivación a área correspondiente y notificación final.</a:t>
            </a:r>
            <a:endParaRPr lang="es-PE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E738879-7B55-41A5-00F8-455B833F1680}"/>
              </a:ext>
            </a:extLst>
          </p:cNvPr>
          <p:cNvSpPr txBox="1"/>
          <p:nvPr/>
        </p:nvSpPr>
        <p:spPr>
          <a:xfrm>
            <a:off x="8439912" y="2900484"/>
            <a:ext cx="4235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Registro de trámite, carga de PDF y número de expediente.</a:t>
            </a:r>
            <a:endParaRPr lang="es-PE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2F43C8E-1590-8914-C0B8-538989C6C81A}"/>
              </a:ext>
            </a:extLst>
          </p:cNvPr>
          <p:cNvSpPr txBox="1"/>
          <p:nvPr/>
        </p:nvSpPr>
        <p:spPr>
          <a:xfrm>
            <a:off x="8592313" y="2599689"/>
            <a:ext cx="2993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2">
                    <a:lumMod val="75000"/>
                  </a:schemeClr>
                </a:solidFill>
              </a:rPr>
              <a:t>2. Fase en Desarrollo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AA2CAA4-3CC5-ABAA-921A-DE94E5190DBC}"/>
              </a:ext>
            </a:extLst>
          </p:cNvPr>
          <p:cNvSpPr txBox="1"/>
          <p:nvPr/>
        </p:nvSpPr>
        <p:spPr>
          <a:xfrm>
            <a:off x="8513064" y="3620869"/>
            <a:ext cx="307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3">
                    <a:lumMod val="75000"/>
                  </a:schemeClr>
                </a:solidFill>
              </a:rPr>
              <a:t>3. Fase de Cierre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DF666CAE-DD88-1AB9-ABAD-D0F3F2D492BE}"/>
              </a:ext>
            </a:extLst>
          </p:cNvPr>
          <p:cNvSpPr/>
          <p:nvPr/>
        </p:nvSpPr>
        <p:spPr>
          <a:xfrm>
            <a:off x="288757" y="962526"/>
            <a:ext cx="8081051" cy="5530348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8520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3310D-C20E-73C0-770A-A71C2524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Diseño de Base de Datos </a:t>
            </a:r>
            <a:br>
              <a:rPr lang="es-PE" b="1" dirty="0"/>
            </a:br>
            <a:endParaRPr lang="es-PE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3C3BC53-0D20-E64D-3EDC-AD44710D9875}"/>
              </a:ext>
            </a:extLst>
          </p:cNvPr>
          <p:cNvSpPr/>
          <p:nvPr/>
        </p:nvSpPr>
        <p:spPr>
          <a:xfrm>
            <a:off x="9308592" y="1226777"/>
            <a:ext cx="2744482" cy="833241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946F919-3971-C6EA-2566-BDF22AB740BE}"/>
              </a:ext>
            </a:extLst>
          </p:cNvPr>
          <p:cNvSpPr/>
          <p:nvPr/>
        </p:nvSpPr>
        <p:spPr>
          <a:xfrm>
            <a:off x="9308592" y="2578698"/>
            <a:ext cx="2798064" cy="98241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C1451CB-ADE4-30D6-6246-F4216D142F22}"/>
              </a:ext>
            </a:extLst>
          </p:cNvPr>
          <p:cNvSpPr txBox="1"/>
          <p:nvPr/>
        </p:nvSpPr>
        <p:spPr>
          <a:xfrm>
            <a:off x="9592056" y="1289826"/>
            <a:ext cx="23111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500" b="1" dirty="0"/>
              <a:t>Usuarios</a:t>
            </a:r>
            <a:r>
              <a:rPr lang="es-PE" sz="1500" dirty="0"/>
              <a:t> y </a:t>
            </a:r>
            <a:r>
              <a:rPr lang="es-PE" sz="1500" b="1" dirty="0"/>
              <a:t>Ciudadanos</a:t>
            </a:r>
            <a:r>
              <a:rPr lang="es-PE" sz="1500" dirty="0"/>
              <a:t> como ejes centrales de la autenticación</a:t>
            </a:r>
            <a:r>
              <a:rPr lang="es-PE" dirty="0"/>
              <a:t>.</a:t>
            </a:r>
            <a:endParaRPr lang="es-PE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20A2CD1-B019-D108-6776-267D73648404}"/>
              </a:ext>
            </a:extLst>
          </p:cNvPr>
          <p:cNvSpPr txBox="1"/>
          <p:nvPr/>
        </p:nvSpPr>
        <p:spPr>
          <a:xfrm>
            <a:off x="9592056" y="2553203"/>
            <a:ext cx="259465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500" dirty="0"/>
              <a:t>Vinculación estructurada con las tablas </a:t>
            </a:r>
            <a:r>
              <a:rPr lang="es-PE" sz="1500" b="1" dirty="0"/>
              <a:t>Trámites</a:t>
            </a:r>
            <a:r>
              <a:rPr lang="es-PE" sz="1500" dirty="0"/>
              <a:t>, </a:t>
            </a:r>
            <a:r>
              <a:rPr lang="es-PE" sz="1500" b="1" dirty="0"/>
              <a:t>Expedientes</a:t>
            </a:r>
            <a:r>
              <a:rPr lang="es-PE" sz="1500" dirty="0"/>
              <a:t> y </a:t>
            </a:r>
            <a:r>
              <a:rPr lang="es-PE" sz="1500" b="1" dirty="0"/>
              <a:t>Documentos</a:t>
            </a:r>
            <a:r>
              <a:rPr lang="es-PE" sz="1500" dirty="0"/>
              <a:t>.</a:t>
            </a:r>
            <a:endParaRPr lang="es-PE" sz="15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162DCFF-E11C-1982-C73C-0BA41344B6E4}"/>
              </a:ext>
            </a:extLst>
          </p:cNvPr>
          <p:cNvSpPr txBox="1"/>
          <p:nvPr/>
        </p:nvSpPr>
        <p:spPr>
          <a:xfrm>
            <a:off x="9564062" y="795519"/>
            <a:ext cx="228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Tablas Principales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08D613D-6AD0-D5F9-434D-74B0CE988F71}"/>
              </a:ext>
            </a:extLst>
          </p:cNvPr>
          <p:cNvSpPr txBox="1"/>
          <p:nvPr/>
        </p:nvSpPr>
        <p:spPr>
          <a:xfrm>
            <a:off x="9545214" y="2183871"/>
            <a:ext cx="2470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Relaciones Clave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E2E78752-458F-27F2-3848-7BE7AA6E866A}"/>
              </a:ext>
            </a:extLst>
          </p:cNvPr>
          <p:cNvSpPr/>
          <p:nvPr/>
        </p:nvSpPr>
        <p:spPr>
          <a:xfrm>
            <a:off x="475488" y="1069848"/>
            <a:ext cx="8989676" cy="5606753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312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5318B-664D-AD41-798A-5AFDB3D4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474" y="915435"/>
            <a:ext cx="10515600" cy="1325563"/>
          </a:xfrm>
        </p:spPr>
        <p:txBody>
          <a:bodyPr/>
          <a:lstStyle/>
          <a:p>
            <a:r>
              <a:rPr lang="es-PE" dirty="0"/>
              <a:t>Arquitectura de Conexión (Código y BD)</a:t>
            </a:r>
            <a:br>
              <a:rPr lang="es-PE" dirty="0"/>
            </a:br>
            <a:endParaRPr lang="es-PE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38D2BE5-FF14-6020-CA0A-ADA3ABF1E108}"/>
              </a:ext>
            </a:extLst>
          </p:cNvPr>
          <p:cNvSpPr/>
          <p:nvPr/>
        </p:nvSpPr>
        <p:spPr>
          <a:xfrm>
            <a:off x="7118686" y="2446587"/>
            <a:ext cx="4720388" cy="2205623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58DBADD-CB7A-393C-A728-10C87639729E}"/>
              </a:ext>
            </a:extLst>
          </p:cNvPr>
          <p:cNvSpPr/>
          <p:nvPr/>
        </p:nvSpPr>
        <p:spPr>
          <a:xfrm>
            <a:off x="838200" y="2446587"/>
            <a:ext cx="4235116" cy="2205623"/>
          </a:xfrm>
          <a:prstGeom prst="round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147B86E-D970-5156-5305-D6D9AE34374E}"/>
              </a:ext>
            </a:extLst>
          </p:cNvPr>
          <p:cNvSpPr txBox="1"/>
          <p:nvPr/>
        </p:nvSpPr>
        <p:spPr>
          <a:xfrm>
            <a:off x="7603958" y="3471119"/>
            <a:ext cx="4235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Almacenamiento relacional, seguro y persistente de credenciales y expedientes.</a:t>
            </a:r>
            <a:endParaRPr lang="es-PE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0C35D77-94CC-5230-8393-35586BBBF071}"/>
              </a:ext>
            </a:extLst>
          </p:cNvPr>
          <p:cNvSpPr txBox="1"/>
          <p:nvPr/>
        </p:nvSpPr>
        <p:spPr>
          <a:xfrm>
            <a:off x="7956884" y="3017550"/>
            <a:ext cx="423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Motor BD: MySQL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046864E-F7D1-047F-103F-3B16E65F08D3}"/>
              </a:ext>
            </a:extLst>
          </p:cNvPr>
          <p:cNvSpPr txBox="1"/>
          <p:nvPr/>
        </p:nvSpPr>
        <p:spPr>
          <a:xfrm>
            <a:off x="1096880" y="3497028"/>
            <a:ext cx="4235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Encargado de la lógica de negocio, validaciones del sistema e interfaz gráfica/consola.</a:t>
            </a:r>
            <a:endParaRPr lang="es-PE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E491C06-0486-35DE-3058-F606FC5F0873}"/>
              </a:ext>
            </a:extLst>
          </p:cNvPr>
          <p:cNvSpPr txBox="1"/>
          <p:nvPr/>
        </p:nvSpPr>
        <p:spPr>
          <a:xfrm>
            <a:off x="1668380" y="3017550"/>
            <a:ext cx="2406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Lenguaje: Python</a:t>
            </a:r>
          </a:p>
        </p:txBody>
      </p:sp>
      <p:sp>
        <p:nvSpPr>
          <p:cNvPr id="18" name="Flecha: a la izquierda y derecha 17">
            <a:extLst>
              <a:ext uri="{FF2B5EF4-FFF2-40B4-BE49-F238E27FC236}">
                <a16:creationId xmlns:a16="http://schemas.microsoft.com/office/drawing/2014/main" id="{B3A1BECB-761A-DDCC-0107-FF2944EFE72D}"/>
              </a:ext>
            </a:extLst>
          </p:cNvPr>
          <p:cNvSpPr/>
          <p:nvPr/>
        </p:nvSpPr>
        <p:spPr>
          <a:xfrm>
            <a:off x="5508459" y="3429000"/>
            <a:ext cx="892341" cy="244642"/>
          </a:xfrm>
          <a:prstGeom prst="leftRight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2805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2B4D9-C699-57B1-A23F-33CFA3375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4191"/>
          </a:xfrm>
        </p:spPr>
        <p:txBody>
          <a:bodyPr>
            <a:normAutofit fontScale="90000"/>
          </a:bodyPr>
          <a:lstStyle/>
          <a:p>
            <a:r>
              <a:rPr lang="es-PE" dirty="0"/>
              <a:t>Módulo de Autenticación (Login)</a:t>
            </a:r>
            <a:br>
              <a:rPr lang="es-PE" dirty="0"/>
            </a:br>
            <a:endParaRPr lang="es-PE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CCDA14F-130B-58EA-5EF1-62141558108C}"/>
              </a:ext>
            </a:extLst>
          </p:cNvPr>
          <p:cNvSpPr/>
          <p:nvPr/>
        </p:nvSpPr>
        <p:spPr>
          <a:xfrm>
            <a:off x="7668126" y="1860884"/>
            <a:ext cx="4235116" cy="98241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A4FCAFB-BDF2-D075-67B7-E6132EEA9913}"/>
              </a:ext>
            </a:extLst>
          </p:cNvPr>
          <p:cNvSpPr/>
          <p:nvPr/>
        </p:nvSpPr>
        <p:spPr>
          <a:xfrm>
            <a:off x="7668126" y="3110262"/>
            <a:ext cx="4235116" cy="974558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05968A7-DC8E-711E-8FDF-3D48921B2D2B}"/>
              </a:ext>
            </a:extLst>
          </p:cNvPr>
          <p:cNvSpPr/>
          <p:nvPr/>
        </p:nvSpPr>
        <p:spPr>
          <a:xfrm>
            <a:off x="7668126" y="4379494"/>
            <a:ext cx="4235116" cy="83419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48CAF94-60AD-5764-C18D-E20C785EB425}"/>
              </a:ext>
            </a:extLst>
          </p:cNvPr>
          <p:cNvSpPr txBox="1"/>
          <p:nvPr/>
        </p:nvSpPr>
        <p:spPr>
          <a:xfrm>
            <a:off x="7668126" y="1386778"/>
            <a:ext cx="423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Lógica de Programación Aplicada: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166924E-08D7-474D-322C-421D690C9B19}"/>
              </a:ext>
            </a:extLst>
          </p:cNvPr>
          <p:cNvSpPr txBox="1"/>
          <p:nvPr/>
        </p:nvSpPr>
        <p:spPr>
          <a:xfrm>
            <a:off x="7668126" y="1993429"/>
            <a:ext cx="4235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Condicionales (IF / ELSE):</a:t>
            </a:r>
            <a:r>
              <a:rPr lang="es-PE" dirty="0"/>
              <a:t> Validación de campos vacíos y reglas de formato.</a:t>
            </a:r>
            <a:endParaRPr lang="es-PE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10B194C-9EB2-C0C4-CEA6-54CA06FA7172}"/>
              </a:ext>
            </a:extLst>
          </p:cNvPr>
          <p:cNvSpPr txBox="1"/>
          <p:nvPr/>
        </p:nvSpPr>
        <p:spPr>
          <a:xfrm>
            <a:off x="7804483" y="4567353"/>
            <a:ext cx="4235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Manejo de Respuestas:</a:t>
            </a:r>
            <a:r>
              <a:rPr lang="es-PE" dirty="0"/>
              <a:t> Alertas de error ante credenciales incorrectas..</a:t>
            </a:r>
            <a:endParaRPr lang="es-PE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3628148-7E8F-BE94-56E6-B66A779F9125}"/>
              </a:ext>
            </a:extLst>
          </p:cNvPr>
          <p:cNvSpPr txBox="1"/>
          <p:nvPr/>
        </p:nvSpPr>
        <p:spPr>
          <a:xfrm>
            <a:off x="7804483" y="3189199"/>
            <a:ext cx="4235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Consultas SQL (SELECT):</a:t>
            </a:r>
            <a:r>
              <a:rPr lang="es-PE" dirty="0"/>
              <a:t> Verificación directa de DNI/Correo y contraseña en MySQL.</a:t>
            </a:r>
            <a:endParaRPr lang="es-PE" b="1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8F748226-66F5-88A8-B655-8644F5DBD1DC}"/>
              </a:ext>
            </a:extLst>
          </p:cNvPr>
          <p:cNvSpPr/>
          <p:nvPr/>
        </p:nvSpPr>
        <p:spPr>
          <a:xfrm>
            <a:off x="288758" y="1471431"/>
            <a:ext cx="6966283" cy="4576443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3411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51F56-ED76-DBD0-6FDB-AAC3D4311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8664"/>
          </a:xfrm>
        </p:spPr>
        <p:txBody>
          <a:bodyPr>
            <a:normAutofit fontScale="90000"/>
          </a:bodyPr>
          <a:lstStyle/>
          <a:p>
            <a:r>
              <a:rPr lang="es-PE" dirty="0"/>
              <a:t>Demostración Funcional: Pruebas de Login</a:t>
            </a:r>
            <a:br>
              <a:rPr lang="es-PE" dirty="0"/>
            </a:br>
            <a:endParaRPr lang="es-PE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CD5262B-D411-09F1-F61C-4190EA39134E}"/>
              </a:ext>
            </a:extLst>
          </p:cNvPr>
          <p:cNvSpPr/>
          <p:nvPr/>
        </p:nvSpPr>
        <p:spPr>
          <a:xfrm>
            <a:off x="216570" y="941832"/>
            <a:ext cx="5946486" cy="5129569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8A6C892-6408-6CDD-EF08-8082118F2014}"/>
              </a:ext>
            </a:extLst>
          </p:cNvPr>
          <p:cNvSpPr/>
          <p:nvPr/>
        </p:nvSpPr>
        <p:spPr>
          <a:xfrm>
            <a:off x="6304547" y="1133856"/>
            <a:ext cx="5670884" cy="480502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B57C120-AF2E-DD1F-9EAF-33C924F75AFE}"/>
              </a:ext>
            </a:extLst>
          </p:cNvPr>
          <p:cNvSpPr txBox="1"/>
          <p:nvPr/>
        </p:nvSpPr>
        <p:spPr>
          <a:xfrm>
            <a:off x="7381775" y="5938876"/>
            <a:ext cx="41228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500" dirty="0"/>
              <a:t>Caso 2: Validación exitosa y despliegue de mensaje de bienvenida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5471E71-2D34-A45E-3FF3-59715509FD9C}"/>
              </a:ext>
            </a:extLst>
          </p:cNvPr>
          <p:cNvSpPr txBox="1"/>
          <p:nvPr/>
        </p:nvSpPr>
        <p:spPr>
          <a:xfrm>
            <a:off x="961886" y="6071401"/>
            <a:ext cx="42351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500" dirty="0"/>
              <a:t>Caso 1: Bloqueo de acceso y mensaje de alerta de credenciales erróneas</a:t>
            </a:r>
            <a:r>
              <a:rPr lang="es-P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549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1FE30-1558-84C2-11EA-379D7EF7C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370"/>
          </a:xfrm>
        </p:spPr>
        <p:txBody>
          <a:bodyPr>
            <a:normAutofit fontScale="90000"/>
          </a:bodyPr>
          <a:lstStyle/>
          <a:p>
            <a:r>
              <a:rPr lang="es-PE" dirty="0"/>
              <a:t>Demostración Funcional: Menú por Roles</a:t>
            </a:r>
            <a:br>
              <a:rPr lang="es-PE" dirty="0"/>
            </a:br>
            <a:endParaRPr lang="es-PE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414FAA6-DCC7-05E0-7CC7-1C34FBB38CFF}"/>
              </a:ext>
            </a:extLst>
          </p:cNvPr>
          <p:cNvSpPr/>
          <p:nvPr/>
        </p:nvSpPr>
        <p:spPr>
          <a:xfrm>
            <a:off x="2459736" y="1071932"/>
            <a:ext cx="6528816" cy="4662935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B88E54B-ED10-6483-4347-C527D9FB4F60}"/>
              </a:ext>
            </a:extLst>
          </p:cNvPr>
          <p:cNvSpPr txBox="1"/>
          <p:nvPr/>
        </p:nvSpPr>
        <p:spPr>
          <a:xfrm>
            <a:off x="4220197" y="5926891"/>
            <a:ext cx="2803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1. Administrador</a:t>
            </a:r>
          </a:p>
        </p:txBody>
      </p:sp>
    </p:spTree>
    <p:extLst>
      <p:ext uri="{BB962C8B-B14F-4D97-AF65-F5344CB8AC3E}">
        <p14:creationId xmlns:p14="http://schemas.microsoft.com/office/powerpoint/2010/main" val="748158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81AD551-0BD8-6F90-E528-25E77E763729}"/>
              </a:ext>
            </a:extLst>
          </p:cNvPr>
          <p:cNvSpPr/>
          <p:nvPr/>
        </p:nvSpPr>
        <p:spPr>
          <a:xfrm>
            <a:off x="2715768" y="1243584"/>
            <a:ext cx="6876287" cy="4590288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429C52A-1015-E8DB-12C1-F502AE8C7BED}"/>
              </a:ext>
            </a:extLst>
          </p:cNvPr>
          <p:cNvSpPr txBox="1"/>
          <p:nvPr/>
        </p:nvSpPr>
        <p:spPr>
          <a:xfrm>
            <a:off x="5037221" y="5937606"/>
            <a:ext cx="2117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2">
                    <a:lumMod val="75000"/>
                  </a:schemeClr>
                </a:solidFill>
              </a:rPr>
              <a:t>2. Ventanilla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0CB571F-C3CD-45BD-09CF-6D5590DFB8EC}"/>
              </a:ext>
            </a:extLst>
          </p:cNvPr>
          <p:cNvSpPr txBox="1"/>
          <p:nvPr/>
        </p:nvSpPr>
        <p:spPr>
          <a:xfrm>
            <a:off x="2202347" y="355912"/>
            <a:ext cx="87157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000" dirty="0">
                <a:latin typeface="Aptos Display (Títulos)"/>
              </a:rPr>
              <a:t>Demostración Funcional: Menú por Roles</a:t>
            </a:r>
            <a:br>
              <a:rPr lang="es-PE" sz="4000" dirty="0">
                <a:latin typeface="Aptos Display (Títulos)"/>
              </a:rPr>
            </a:br>
            <a:endParaRPr lang="es-PE" sz="4000" dirty="0">
              <a:latin typeface="Aptos Display (Títulos)"/>
            </a:endParaRPr>
          </a:p>
        </p:txBody>
      </p:sp>
    </p:spTree>
    <p:extLst>
      <p:ext uri="{BB962C8B-B14F-4D97-AF65-F5344CB8AC3E}">
        <p14:creationId xmlns:p14="http://schemas.microsoft.com/office/powerpoint/2010/main" val="1491004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EF48C13-0493-D3ED-04C4-F3A21BF7EEB5}"/>
              </a:ext>
            </a:extLst>
          </p:cNvPr>
          <p:cNvSpPr/>
          <p:nvPr/>
        </p:nvSpPr>
        <p:spPr>
          <a:xfrm>
            <a:off x="2414016" y="1298449"/>
            <a:ext cx="8010144" cy="4634878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F8B3BD1-08A9-6ECE-DF61-8910E439383E}"/>
              </a:ext>
            </a:extLst>
          </p:cNvPr>
          <p:cNvSpPr txBox="1"/>
          <p:nvPr/>
        </p:nvSpPr>
        <p:spPr>
          <a:xfrm>
            <a:off x="4791437" y="5933327"/>
            <a:ext cx="2117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3. Ciudadano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42F24D8-C06C-5A38-6BFE-8CFC9D0ABC32}"/>
              </a:ext>
            </a:extLst>
          </p:cNvPr>
          <p:cNvSpPr txBox="1"/>
          <p:nvPr/>
        </p:nvSpPr>
        <p:spPr>
          <a:xfrm>
            <a:off x="1400917" y="555341"/>
            <a:ext cx="871571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000" dirty="0">
                <a:latin typeface="Aptos Display (Títulos)"/>
              </a:rPr>
              <a:t>Demostración Funcional: Menú por Roles</a:t>
            </a:r>
            <a:br>
              <a:rPr lang="es-PE" sz="4000" dirty="0">
                <a:latin typeface="Aptos Display (Títulos)"/>
              </a:rPr>
            </a:br>
            <a:endParaRPr lang="es-PE" sz="4000" dirty="0">
              <a:latin typeface="Aptos Display (Títulos)"/>
            </a:endParaRP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23989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22BEE88B-F4B2-E0B6-03B6-96C70093D4FA}"/>
              </a:ext>
            </a:extLst>
          </p:cNvPr>
          <p:cNvSpPr/>
          <p:nvPr/>
        </p:nvSpPr>
        <p:spPr>
          <a:xfrm>
            <a:off x="8822151" y="1700460"/>
            <a:ext cx="3195389" cy="375385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F21B054B-2181-9502-413E-F36C512B5C02}"/>
              </a:ext>
            </a:extLst>
          </p:cNvPr>
          <p:cNvSpPr/>
          <p:nvPr/>
        </p:nvSpPr>
        <p:spPr>
          <a:xfrm>
            <a:off x="4743451" y="2520731"/>
            <a:ext cx="2988845" cy="2365377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13B006-FBDF-8415-645F-AD21A17E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Hoja de Ruta y Conclusión</a:t>
            </a:r>
            <a:br>
              <a:rPr lang="es-PE" b="1" dirty="0"/>
            </a:br>
            <a:endParaRPr lang="es-PE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072CC36-1913-D9FB-F0DE-6C63A66E489E}"/>
              </a:ext>
            </a:extLst>
          </p:cNvPr>
          <p:cNvSpPr/>
          <p:nvPr/>
        </p:nvSpPr>
        <p:spPr>
          <a:xfrm>
            <a:off x="174459" y="1690687"/>
            <a:ext cx="4235116" cy="37538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b="1" dirty="0"/>
              <a:t>Demostración Funcional: Menú por Roles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C2ACD4C-4AAF-581B-A658-8A6BE1764A8F}"/>
              </a:ext>
            </a:extLst>
          </p:cNvPr>
          <p:cNvSpPr/>
          <p:nvPr/>
        </p:nvSpPr>
        <p:spPr>
          <a:xfrm>
            <a:off x="4677276" y="1690686"/>
            <a:ext cx="3204411" cy="37538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CFAFD0B-71BF-0337-21C7-D0E99811EF4F}"/>
              </a:ext>
            </a:extLst>
          </p:cNvPr>
          <p:cNvSpPr/>
          <p:nvPr/>
        </p:nvSpPr>
        <p:spPr>
          <a:xfrm>
            <a:off x="8822152" y="1700460"/>
            <a:ext cx="3145260" cy="37538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1A72E39-B10B-18BF-0E92-CDDA813005FD}"/>
              </a:ext>
            </a:extLst>
          </p:cNvPr>
          <p:cNvSpPr/>
          <p:nvPr/>
        </p:nvSpPr>
        <p:spPr>
          <a:xfrm>
            <a:off x="329867" y="2520732"/>
            <a:ext cx="3924300" cy="2365377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9939FA5-8165-F2FE-2D64-D7CA1A98D81F}"/>
              </a:ext>
            </a:extLst>
          </p:cNvPr>
          <p:cNvSpPr txBox="1"/>
          <p:nvPr/>
        </p:nvSpPr>
        <p:spPr>
          <a:xfrm>
            <a:off x="1374609" y="2020766"/>
            <a:ext cx="183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Lo Logrado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A42AF7B-E03A-1D65-46EF-0F40FEAB0F04}"/>
              </a:ext>
            </a:extLst>
          </p:cNvPr>
          <p:cNvSpPr txBox="1"/>
          <p:nvPr/>
        </p:nvSpPr>
        <p:spPr>
          <a:xfrm>
            <a:off x="305804" y="2717805"/>
            <a:ext cx="42351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s-PE" dirty="0"/>
              <a:t>Diagrama Bizagi de proceso presencial</a:t>
            </a:r>
          </a:p>
          <a:p>
            <a:pPr marL="285750" indent="-285750">
              <a:buFontTx/>
              <a:buChar char="-"/>
            </a:pPr>
            <a:r>
              <a:rPr lang="es-PE" dirty="0"/>
              <a:t>Base de datos estructurada (DER)</a:t>
            </a:r>
          </a:p>
          <a:p>
            <a:pPr marL="285750" indent="-285750">
              <a:buFontTx/>
              <a:buChar char="-"/>
            </a:pPr>
            <a:r>
              <a:rPr lang="es-PE" dirty="0"/>
              <a:t>Conexión Python - MySQL estable</a:t>
            </a:r>
          </a:p>
          <a:p>
            <a:pPr marL="285750" indent="-285750">
              <a:buFontTx/>
              <a:buChar char="-"/>
            </a:pPr>
            <a:r>
              <a:rPr lang="es-PE" dirty="0"/>
              <a:t>Seguridad de acceso (Login)</a:t>
            </a:r>
          </a:p>
          <a:p>
            <a:pPr marL="285750" indent="-285750">
              <a:buFontTx/>
              <a:buChar char="-"/>
            </a:pPr>
            <a:r>
              <a:rPr lang="es-PE" dirty="0"/>
              <a:t>Menú según rol de usuario</a:t>
            </a:r>
          </a:p>
          <a:p>
            <a:pPr marL="285750" lvl="0" indent="-285750">
              <a:buFontTx/>
              <a:buChar char="-"/>
            </a:pPr>
            <a:endParaRPr lang="es-PE" dirty="0"/>
          </a:p>
          <a:p>
            <a:br>
              <a:rPr lang="es-PE" dirty="0"/>
            </a:br>
            <a:endParaRPr lang="es-PE" b="1" dirty="0"/>
          </a:p>
          <a:p>
            <a:br>
              <a:rPr lang="es-PE" dirty="0"/>
            </a:b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0A3D4E7-61B4-832A-8766-E87E66FA4394}"/>
              </a:ext>
            </a:extLst>
          </p:cNvPr>
          <p:cNvSpPr txBox="1"/>
          <p:nvPr/>
        </p:nvSpPr>
        <p:spPr>
          <a:xfrm>
            <a:off x="4934955" y="1982052"/>
            <a:ext cx="2797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>
                <a:solidFill>
                  <a:schemeClr val="accent2">
                    <a:lumMod val="75000"/>
                  </a:schemeClr>
                </a:solidFill>
              </a:rPr>
              <a:t>Lo que sigue</a:t>
            </a:r>
          </a:p>
          <a:p>
            <a:endParaRPr lang="es-PE" b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1AAB577-BB02-44C1-336E-FC294B3004DF}"/>
              </a:ext>
            </a:extLst>
          </p:cNvPr>
          <p:cNvSpPr txBox="1"/>
          <p:nvPr/>
        </p:nvSpPr>
        <p:spPr>
          <a:xfrm>
            <a:off x="8983581" y="1910104"/>
            <a:ext cx="2797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>
                <a:solidFill>
                  <a:schemeClr val="bg1"/>
                </a:solidFill>
              </a:rPr>
              <a:t>Conclusión Impacto SJL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4CA0474-E5BA-090A-77C5-697A59814DB7}"/>
              </a:ext>
            </a:extLst>
          </p:cNvPr>
          <p:cNvSpPr txBox="1"/>
          <p:nvPr/>
        </p:nvSpPr>
        <p:spPr>
          <a:xfrm>
            <a:off x="4832684" y="2661282"/>
            <a:ext cx="33167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PE" dirty="0"/>
              <a:t>- Formulario de registro de expediente</a:t>
            </a:r>
          </a:p>
          <a:p>
            <a:pPr lvl="0"/>
            <a:r>
              <a:rPr lang="es-PE" dirty="0"/>
              <a:t>- Carga de requisitos en PDF</a:t>
            </a:r>
          </a:p>
          <a:p>
            <a:pPr lvl="0"/>
            <a:r>
              <a:rPr lang="es-PE" dirty="0"/>
              <a:t>- Generación de número de ticket/seguimiento</a:t>
            </a:r>
          </a:p>
          <a:p>
            <a:pPr lvl="0"/>
            <a:endParaRPr lang="es-PE" dirty="0"/>
          </a:p>
          <a:p>
            <a:br>
              <a:rPr lang="es-PE" dirty="0"/>
            </a:br>
            <a:endParaRPr lang="es-PE" b="1" dirty="0"/>
          </a:p>
          <a:p>
            <a:br>
              <a:rPr lang="es-PE" dirty="0"/>
            </a:br>
            <a:endParaRPr lang="es-PE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4B89245-B7BB-8271-D5BA-8E2CEF73BDEA}"/>
              </a:ext>
            </a:extLst>
          </p:cNvPr>
          <p:cNvSpPr txBox="1"/>
          <p:nvPr/>
        </p:nvSpPr>
        <p:spPr>
          <a:xfrm>
            <a:off x="9050758" y="2384283"/>
            <a:ext cx="29166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PE" dirty="0">
                <a:solidFill>
                  <a:schemeClr val="bg1"/>
                </a:solidFill>
              </a:rPr>
              <a:t>Este proyecto transformará la mesa de partes de SJL en un servicio accesible y moderno, reduciendo tiempos y mejorando la atención a miles de vecinos.</a:t>
            </a:r>
          </a:p>
          <a:p>
            <a:br>
              <a:rPr lang="es-PE" dirty="0"/>
            </a:br>
            <a:endParaRPr lang="es-PE" b="1" dirty="0"/>
          </a:p>
          <a:p>
            <a:br>
              <a:rPr lang="es-PE" dirty="0"/>
            </a:b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729613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172</TotalTime>
  <Words>475</Words>
  <Application>Microsoft Office PowerPoint</Application>
  <PresentationFormat>Panorámica</PresentationFormat>
  <Paragraphs>77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Aptos Display (Títulos)</vt:lpstr>
      <vt:lpstr>Arial</vt:lpstr>
      <vt:lpstr>Tema de Office</vt:lpstr>
      <vt:lpstr>Sistema de Mesa de Partes                     virtuales</vt:lpstr>
      <vt:lpstr>Problemática actual en SJL</vt:lpstr>
      <vt:lpstr>Solución Propuesta y Objetivos </vt:lpstr>
      <vt:lpstr>Flujo del Proceso de Negocio  </vt:lpstr>
      <vt:lpstr>Diseño de Base de Datos  </vt:lpstr>
      <vt:lpstr>Arquitectura de Conexión (Código y BD) </vt:lpstr>
      <vt:lpstr>Módulo de Autenticación (Login) </vt:lpstr>
      <vt:lpstr>Demostración Funcional: Pruebas de Login </vt:lpstr>
      <vt:lpstr>Demostración Funcional: Menú por Roles </vt:lpstr>
      <vt:lpstr>Presentación de PowerPoint</vt:lpstr>
      <vt:lpstr>Presentación de PowerPoint</vt:lpstr>
      <vt:lpstr>Hoja de Ruta y 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2026-10-21T00:26:41Z</dcterms:created>
  <dcterms:modified xsi:type="dcterms:W3CDTF">2026-10-21T03:18:57Z</dcterms:modified>
</cp:coreProperties>
</file>